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71" r:id="rId3"/>
    <p:sldId id="263" r:id="rId4"/>
    <p:sldId id="266" r:id="rId5"/>
    <p:sldId id="262" r:id="rId6"/>
    <p:sldId id="264" r:id="rId7"/>
    <p:sldId id="267" r:id="rId8"/>
    <p:sldId id="270" r:id="rId9"/>
    <p:sldId id="281" r:id="rId10"/>
    <p:sldId id="279" r:id="rId11"/>
    <p:sldId id="278" r:id="rId12"/>
    <p:sldId id="280" r:id="rId13"/>
    <p:sldId id="282" r:id="rId14"/>
    <p:sldId id="260" r:id="rId15"/>
    <p:sldId id="269" r:id="rId16"/>
    <p:sldId id="275" r:id="rId17"/>
    <p:sldId id="274" r:id="rId18"/>
    <p:sldId id="259" r:id="rId19"/>
    <p:sldId id="273" r:id="rId20"/>
    <p:sldId id="272" r:id="rId21"/>
    <p:sldId id="265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CF"/>
    <a:srgbClr val="FF8E95"/>
    <a:srgbClr val="F37F86"/>
    <a:srgbClr val="E15759"/>
    <a:srgbClr val="F28E2B"/>
    <a:srgbClr val="4F79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852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1008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38133C-08E5-9D42-B4EB-37568A016D91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38C726-BAA9-6D46-90AB-FDF336FCAE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5497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8C726-BAA9-6D46-90AB-FDF336FCAE1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0368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1A6E6-075E-4828-AF88-09BD0A7425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800DB-487B-4E23-AC0B-90C9ED4E10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DF5B1-3694-42A9-866E-9F1FF6CF0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718E67-8162-4BE0-9B01-22B89A12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68B9D-A8C9-40C5-85B0-14F435F39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738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4D5D7-9AEB-44F2-8A04-0694BE152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CE933F-693D-4770-8DC4-A5A086AC8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7849A-1CE6-4F5C-95D7-EA8DA5EE5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FE1FD0-B95E-4CF6-9A27-0F91F96DA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123BE-5891-49D6-A758-867A98F38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22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85FC7-1BEA-438E-A0A7-88FF55112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D5F5C0-417B-4A28-8AE9-A79AC74A6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BC6257-C490-4059-9E97-16E46673C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4051CD-74EC-43C1-9F21-D33BD297F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95141-29DC-41BA-BE25-E899055F3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532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4FC21-AE04-4050-80E6-D9DCA4B50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85F7E-EF45-48F7-9E54-C6806D0E9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24501F-6ED5-4112-B037-D3E9F8CF2C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61E48C-176E-4E60-8CB3-542516996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52202B-C929-4B39-AF47-D17C38F86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EEBF3-930A-4A23-810D-C1880E7A6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384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48E08-A828-430D-B8A6-7302E570A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FF5402-465C-4E68-BF7E-BFE1177B55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9B917D-5EC9-44FC-B8A7-9ADF4ADC4F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DCF5D4-E55C-42FF-A7E5-2466DE35B8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579A7F-77F4-4169-8D51-2123441998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35923-3BB5-4F33-8E76-56665E95B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43FC79-7089-4373-88DC-12501E782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E0BEB1-B009-47B7-B159-DE05E615E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72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5FFCC-78CC-4E9D-A277-8230F2733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CEFE7-D923-48C1-B2FE-8110829C6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8F91C9-7841-4F7B-8F24-B5FF45B5B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896739-CF17-4867-A5ED-317AD19F5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114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8942B-5ECF-4556-91C2-496E4C52E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1589EF-E9AD-45F7-BFBE-6F8AD3570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8E0FA-5424-403C-8462-1B7C301C6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240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7A56-C315-441C-9002-DFD599AED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57D9A-8037-4B31-951B-4675ADA693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3141B-5121-4179-B3F6-5295691222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60C32E-3427-4696-A55A-56886EA24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DFE526-7D20-4EC0-9624-E77981295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AA82D7-E462-4060-85D6-85CF55540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305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E919B-BF68-4590-8CA9-A51BAC0F7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4BC1AA-5C68-47DC-BBF0-1E309865E5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81A636-7F9C-43EC-B2F2-6FB3323CB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9410E-A050-4AA2-BC89-EF52EB1C3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23AB0-18A5-4589-926D-C00F68CFE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54EE52-EECA-4C6E-83E9-6382044D3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688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536FE-B6CA-4D45-A719-6B51F3FF6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B9388C-63B0-4DA8-97D0-BEEDCF401C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9BDB0-2A2B-43AC-965A-A9E7E7F74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DA7C3-2A5B-4BED-A540-9136486CC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888E8-31D6-4E51-9228-0D6066FED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160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D010CA-6776-433E-8E25-97899E0828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391E6E-3CF5-4535-B37E-E30058EA28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6ADEE3-AAA7-4846-8EC6-84B1537C1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1DABD6-6E60-4895-89B1-3604A484D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4D314-6D1C-4A42-A445-B77646B2B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526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3F6010-77C4-45FE-968C-712199A58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B1B2C-5D5F-46D9-92F5-ECDF2816A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34894-C6F5-46F1-BAA2-AFEA88E681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D1C14C-A143-42F5-B247-D0E800131009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B1C84-4663-4022-BBEA-7667FEBCF3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820DA-1F3A-421F-A770-A6347089E3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852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public.tableau.com/views/dddd_17585476895780/ClusterDefinitionDashboard?:language=en-US&amp;:sid=&amp;:redirect=auth&amp;:display_count=n&amp;:origin=viz_share_link" TargetMode="External"/><Relationship Id="rId2" Type="http://schemas.openxmlformats.org/officeDocument/2006/relationships/hyperlink" Target="https://public.tableau.com/views/GlobalHotelsandResortsRevenueAnalysis-CancellationAnalysis/CancelTypeRatioAnalysis?:language=en-US&amp;:sid=&amp;:redirect=auth&amp;:display_count=n&amp;:origin=viz_share_link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1">
            <a:extLst>
              <a:ext uri="{FF2B5EF4-FFF2-40B4-BE49-F238E27FC236}">
                <a16:creationId xmlns:a16="http://schemas.microsoft.com/office/drawing/2014/main" id="{09AA1089-F089-4CFA-9BFB-9F2FA4B6E0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5764" y="2559790"/>
            <a:ext cx="10840472" cy="1822091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b="1" dirty="0"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Global Hotels and Resorts</a:t>
            </a:r>
            <a:br>
              <a:rPr lang="en-US" b="1" dirty="0"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</a:br>
            <a:r>
              <a:rPr lang="zh-TW" altLang="en-US" b="1" dirty="0"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訂房取消</a:t>
            </a:r>
            <a:r>
              <a:rPr lang="en-US" b="1" dirty="0" err="1"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分析</a:t>
            </a:r>
            <a:endParaRPr b="1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7AB9B-EA1E-A616-90E8-30D54ABCE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5400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訂單取消類型比例圖</a:t>
            </a:r>
            <a:endParaRPr lang="en-US" sz="5400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594636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blue and orange pie chart&#10;&#10;Description automatically generated">
            <a:extLst>
              <a:ext uri="{FF2B5EF4-FFF2-40B4-BE49-F238E27FC236}">
                <a16:creationId xmlns:a16="http://schemas.microsoft.com/office/drawing/2014/main" id="{4FBD11B6-D92D-1248-5957-43D8EBE374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330" y="1404934"/>
            <a:ext cx="5423050" cy="4515119"/>
          </a:xfrm>
        </p:spPr>
      </p:pic>
      <p:pic>
        <p:nvPicPr>
          <p:cNvPr id="12" name="Picture 11" descr="A pie chart with numbers and a number on it&#10;&#10;Description automatically generated">
            <a:extLst>
              <a:ext uri="{FF2B5EF4-FFF2-40B4-BE49-F238E27FC236}">
                <a16:creationId xmlns:a16="http://schemas.microsoft.com/office/drawing/2014/main" id="{DEC34633-5508-569E-18F8-718776D00E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5294" y="1206386"/>
            <a:ext cx="4268214" cy="4905921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43D839CB-D354-FE2F-6537-4ECE4C88F525}"/>
              </a:ext>
            </a:extLst>
          </p:cNvPr>
          <p:cNvGrpSpPr/>
          <p:nvPr/>
        </p:nvGrpSpPr>
        <p:grpSpPr>
          <a:xfrm>
            <a:off x="9788952" y="396734"/>
            <a:ext cx="2235707" cy="823136"/>
            <a:chOff x="10468633" y="1751301"/>
            <a:chExt cx="2235707" cy="823136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D308B36-A8A5-07A2-40B9-A355A369118F}"/>
                </a:ext>
              </a:extLst>
            </p:cNvPr>
            <p:cNvSpPr txBox="1"/>
            <p:nvPr/>
          </p:nvSpPr>
          <p:spPr>
            <a:xfrm>
              <a:off x="10601299" y="1751301"/>
              <a:ext cx="1424430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500" dirty="0"/>
                <a:t>No</a:t>
              </a:r>
              <a:r>
                <a:rPr lang="zh-TW" altLang="en-US" sz="1500" dirty="0"/>
                <a:t> </a:t>
              </a:r>
              <a:r>
                <a:rPr lang="en-US" altLang="zh-TW" sz="1500" dirty="0"/>
                <a:t>Cancellation</a:t>
              </a:r>
              <a:r>
                <a:rPr lang="zh-TW" altLang="en-US" sz="1500" dirty="0"/>
                <a:t> </a:t>
              </a:r>
              <a:endParaRPr lang="en-US" sz="15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3836A045-090C-1A14-A886-C985B2B713F4}"/>
                </a:ext>
              </a:extLst>
            </p:cNvPr>
            <p:cNvGrpSpPr/>
            <p:nvPr/>
          </p:nvGrpSpPr>
          <p:grpSpPr>
            <a:xfrm>
              <a:off x="10468633" y="1847882"/>
              <a:ext cx="2235707" cy="726555"/>
              <a:chOff x="10468633" y="1847882"/>
              <a:chExt cx="2235707" cy="726555"/>
            </a:xfrm>
          </p:grpSpPr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C3C23E31-2DD3-6A7E-D836-927526C25C08}"/>
                  </a:ext>
                </a:extLst>
              </p:cNvPr>
              <p:cNvSpPr/>
              <p:nvPr/>
            </p:nvSpPr>
            <p:spPr>
              <a:xfrm>
                <a:off x="10468633" y="1847882"/>
                <a:ext cx="125506" cy="127732"/>
              </a:xfrm>
              <a:prstGeom prst="roundRect">
                <a:avLst/>
              </a:prstGeom>
              <a:solidFill>
                <a:srgbClr val="4F79A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47C862F4-F458-A47B-DD2A-3225112FA076}"/>
                  </a:ext>
                </a:extLst>
              </p:cNvPr>
              <p:cNvSpPr/>
              <p:nvPr/>
            </p:nvSpPr>
            <p:spPr>
              <a:xfrm>
                <a:off x="10475793" y="2100260"/>
                <a:ext cx="125506" cy="127732"/>
              </a:xfrm>
              <a:prstGeom prst="roundRect">
                <a:avLst/>
              </a:prstGeom>
              <a:solidFill>
                <a:srgbClr val="F28E2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02E983FE-37AA-CEA5-0FAC-6394329E6EB4}"/>
                  </a:ext>
                </a:extLst>
              </p:cNvPr>
              <p:cNvSpPr/>
              <p:nvPr/>
            </p:nvSpPr>
            <p:spPr>
              <a:xfrm>
                <a:off x="10475793" y="2358644"/>
                <a:ext cx="125506" cy="127732"/>
              </a:xfrm>
              <a:prstGeom prst="roundRect">
                <a:avLst/>
              </a:prstGeom>
              <a:solidFill>
                <a:srgbClr val="E1575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8036AAC-CA03-4782-C029-8B469113EF88}"/>
                  </a:ext>
                </a:extLst>
              </p:cNvPr>
              <p:cNvSpPr txBox="1"/>
              <p:nvPr/>
            </p:nvSpPr>
            <p:spPr>
              <a:xfrm>
                <a:off x="10594139" y="2005546"/>
                <a:ext cx="1573954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500" dirty="0"/>
                  <a:t>Early</a:t>
                </a:r>
                <a:r>
                  <a:rPr lang="zh-TW" altLang="en-US" sz="1500" dirty="0"/>
                  <a:t> </a:t>
                </a:r>
                <a:r>
                  <a:rPr lang="en-US" altLang="zh-TW" sz="1500" dirty="0"/>
                  <a:t>Cancellation</a:t>
                </a:r>
                <a:r>
                  <a:rPr lang="zh-TW" altLang="en-US" sz="1500" dirty="0"/>
                  <a:t> </a:t>
                </a:r>
                <a:endParaRPr lang="en-US" sz="1500" dirty="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627A9EF-B054-E844-7593-4B9302EA1A86}"/>
                  </a:ext>
                </a:extLst>
              </p:cNvPr>
              <p:cNvSpPr txBox="1"/>
              <p:nvPr/>
            </p:nvSpPr>
            <p:spPr>
              <a:xfrm>
                <a:off x="10601299" y="2251272"/>
                <a:ext cx="2103041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500" dirty="0"/>
                  <a:t>Last-minute</a:t>
                </a:r>
                <a:r>
                  <a:rPr lang="zh-TW" altLang="en-US" sz="1500" dirty="0"/>
                  <a:t> </a:t>
                </a:r>
                <a:r>
                  <a:rPr lang="en-US" altLang="zh-TW" sz="1500" dirty="0"/>
                  <a:t>Cancellation</a:t>
                </a:r>
                <a:r>
                  <a:rPr lang="zh-TW" altLang="en-US" sz="1500" dirty="0"/>
                  <a:t> </a:t>
                </a:r>
                <a:endParaRPr lang="en-US" sz="15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29147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EEACD-27CF-B5FF-C420-D40F85D8C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訂單取消類型比例圖</a:t>
            </a:r>
            <a:endParaRPr 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D0F9F6-7E6B-2C23-A4AD-B4E30A3F9C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取消訂房率高達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40%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。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>
              <a:lnSpc>
                <a:spcPct val="150000"/>
              </a:lnSpc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臨時取消佔比極小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圓餅圖中紅色部分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)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。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8535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2F916-C1A7-55E2-C5E4-E78F2092A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07751"/>
            <a:ext cx="10515600" cy="842498"/>
          </a:xfrm>
        </p:spPr>
        <p:txBody>
          <a:bodyPr>
            <a:normAutofit/>
          </a:bodyPr>
          <a:lstStyle/>
          <a:p>
            <a:pPr algn="ctr"/>
            <a:r>
              <a:rPr lang="en-US" sz="5400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臨時取消與損失趨勢分析</a:t>
            </a:r>
            <a:endParaRPr lang="en-US" sz="5400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9956140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 descr="A graph of a line&#10;&#10;Description automatically generated with medium confidence">
            <a:extLst>
              <a:ext uri="{FF2B5EF4-FFF2-40B4-BE49-F238E27FC236}">
                <a16:creationId xmlns:a16="http://schemas.microsoft.com/office/drawing/2014/main" id="{FABBCAF3-7BAE-5D29-1D8A-58FA6DA832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72662"/>
          </a:xfr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79F1C20-3A9E-B890-4DC1-892AD371A34B}"/>
              </a:ext>
            </a:extLst>
          </p:cNvPr>
          <p:cNvCxnSpPr>
            <a:cxnSpLocks/>
          </p:cNvCxnSpPr>
          <p:nvPr/>
        </p:nvCxnSpPr>
        <p:spPr>
          <a:xfrm>
            <a:off x="730370" y="920151"/>
            <a:ext cx="8778195" cy="675567"/>
          </a:xfrm>
          <a:prstGeom prst="line">
            <a:avLst/>
          </a:prstGeom>
          <a:ln w="9525" cap="flat" cmpd="sng" algn="ctr">
            <a:solidFill>
              <a:srgbClr val="F37F8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22B1413-1226-A672-5AFD-AE7C87FFF844}"/>
              </a:ext>
            </a:extLst>
          </p:cNvPr>
          <p:cNvCxnSpPr>
            <a:cxnSpLocks/>
          </p:cNvCxnSpPr>
          <p:nvPr/>
        </p:nvCxnSpPr>
        <p:spPr>
          <a:xfrm flipV="1">
            <a:off x="649688" y="2715467"/>
            <a:ext cx="8858877" cy="548335"/>
          </a:xfrm>
          <a:prstGeom prst="line">
            <a:avLst/>
          </a:prstGeom>
          <a:ln w="9525" cap="flat" cmpd="sng" algn="ctr">
            <a:solidFill>
              <a:srgbClr val="F37F8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25B9D96-18EB-CB52-D7AA-73B6EF19E5FF}"/>
              </a:ext>
            </a:extLst>
          </p:cNvPr>
          <p:cNvCxnSpPr>
            <a:cxnSpLocks/>
          </p:cNvCxnSpPr>
          <p:nvPr/>
        </p:nvCxnSpPr>
        <p:spPr>
          <a:xfrm flipV="1">
            <a:off x="730370" y="5061043"/>
            <a:ext cx="8736359" cy="520981"/>
          </a:xfrm>
          <a:prstGeom prst="line">
            <a:avLst/>
          </a:prstGeom>
          <a:ln w="9525" cap="flat" cmpd="sng" algn="ctr">
            <a:solidFill>
              <a:srgbClr val="F37F8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43078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5B71E-E96C-85AC-82CD-C5DA39B5C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臨時取消與損失趨勢分析</a:t>
            </a:r>
            <a:endParaRPr 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9E3C6-813C-63D3-98E0-CA845BE11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臨時取消率 在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2015–2017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年間呈現</a:t>
            </a:r>
            <a:r>
              <a:rPr lang="zh-TW" altLang="en-US" b="1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下降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趨勢。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>
              <a:lnSpc>
                <a:spcPct val="150000"/>
              </a:lnSpc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臨時取消平均損失以及平均每日房價呈現</a:t>
            </a:r>
            <a:r>
              <a:rPr lang="zh-TW" altLang="en-US" b="1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上升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趨勢。 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>
              <a:lnSpc>
                <a:spcPct val="150000"/>
              </a:lnSpc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總臨時取消損失呈現</a:t>
            </a:r>
            <a:r>
              <a:rPr lang="zh-TW" altLang="en-US" b="1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較大波動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。 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>
              <a:lnSpc>
                <a:spcPct val="150000"/>
              </a:lnSpc>
            </a:pPr>
            <a:r>
              <a:rPr lang="en-US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目前對於臨時取消的</a:t>
            </a:r>
            <a:r>
              <a:rPr lang="en-US" b="1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策略有效</a:t>
            </a:r>
            <a:r>
              <a:rPr lang="en-US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，但因房價上升所以總損失並</a:t>
            </a:r>
            <a:r>
              <a:rPr lang="en-US" b="1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未有</a:t>
            </a:r>
            <a:r>
              <a:rPr lang="en-US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跟著下降的趨勢</a:t>
            </a:r>
            <a:r>
              <a:rPr 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5330573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8E8F1-D4CD-6D0F-F303-E877B9E5D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不同群體的臨時取消行為分析</a:t>
            </a:r>
            <a:endParaRPr 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20798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3534D-32A2-8584-AEDB-74D894C61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E9405-CA53-2A05-D550-1C81B13C9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分群</a:t>
            </a:r>
            <a:endParaRPr 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655B2F5-9738-7A2E-6916-7A67C18FC1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1388321"/>
              </p:ext>
            </p:extLst>
          </p:nvPr>
        </p:nvGraphicFramePr>
        <p:xfrm>
          <a:off x="1334168" y="1727034"/>
          <a:ext cx="9897964" cy="43166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48982">
                  <a:extLst>
                    <a:ext uri="{9D8B030D-6E8A-4147-A177-3AD203B41FA5}">
                      <a16:colId xmlns:a16="http://schemas.microsoft.com/office/drawing/2014/main" val="1292968656"/>
                    </a:ext>
                  </a:extLst>
                </a:gridCol>
                <a:gridCol w="4948982">
                  <a:extLst>
                    <a:ext uri="{9D8B030D-6E8A-4147-A177-3AD203B41FA5}">
                      <a16:colId xmlns:a16="http://schemas.microsoft.com/office/drawing/2014/main" val="3977895269"/>
                    </a:ext>
                  </a:extLst>
                </a:gridCol>
              </a:tblGrid>
              <a:tr h="51964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zh-TW" altLang="en-US" sz="2200" b="1" dirty="0">
                          <a:solidFill>
                            <a:schemeClr val="bg1"/>
                          </a:solidFill>
                          <a:effectLst/>
                          <a:latin typeface="Microsoft JhengHei UI" panose="020B0604030504040204" pitchFamily="34" charset="-120"/>
                          <a:ea typeface="Microsoft JhengHei UI" panose="020B0604030504040204" pitchFamily="34" charset="-120"/>
                        </a:rPr>
                        <a:t>分群依據</a:t>
                      </a:r>
                    </a:p>
                  </a:txBody>
                  <a:tcPr marL="139190" marR="139190" marT="92793" marB="9279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zh-TW" altLang="en-US" sz="2200" b="1" dirty="0">
                          <a:solidFill>
                            <a:schemeClr val="bg1"/>
                          </a:solidFill>
                          <a:effectLst/>
                          <a:latin typeface="Microsoft JhengHei UI" panose="020B0604030504040204" pitchFamily="34" charset="-120"/>
                          <a:ea typeface="Microsoft JhengHei UI" panose="020B0604030504040204" pitchFamily="34" charset="-120"/>
                        </a:rPr>
                        <a:t>類別</a:t>
                      </a:r>
                    </a:p>
                  </a:txBody>
                  <a:tcPr marL="139190" marR="139190" marT="92793" marB="92793" anchor="ctr"/>
                </a:tc>
                <a:extLst>
                  <a:ext uri="{0D108BD9-81ED-4DB2-BD59-A6C34878D82A}">
                    <a16:rowId xmlns:a16="http://schemas.microsoft.com/office/drawing/2014/main" val="333267637"/>
                  </a:ext>
                </a:extLst>
              </a:tr>
              <a:tr h="51964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zh-TW" altLang="en-US" sz="2200" b="0" dirty="0">
                          <a:solidFill>
                            <a:srgbClr val="1B1C1D"/>
                          </a:solidFill>
                          <a:effectLst/>
                          <a:latin typeface="Microsoft JhengHei UI" panose="020B0604030504040204" pitchFamily="34" charset="-120"/>
                          <a:ea typeface="Microsoft JhengHei UI" panose="020B0604030504040204" pitchFamily="34" charset="-120"/>
                        </a:rPr>
                        <a:t>國家</a:t>
                      </a:r>
                    </a:p>
                  </a:txBody>
                  <a:tcPr marL="139190" marR="139190" marT="92793" marB="9279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zh-TW" sz="2200" b="0" dirty="0">
                          <a:solidFill>
                            <a:srgbClr val="1B1C1D"/>
                          </a:solidFill>
                          <a:effectLst/>
                          <a:latin typeface="Microsoft JhengHei UI" panose="020B0604030504040204" pitchFamily="34" charset="-120"/>
                          <a:ea typeface="Microsoft JhengHei UI" panose="020B0604030504040204" pitchFamily="34" charset="-120"/>
                        </a:rPr>
                        <a:t>109</a:t>
                      </a:r>
                      <a:r>
                        <a:rPr lang="zh-TW" altLang="en-US" sz="2200" b="0" dirty="0">
                          <a:solidFill>
                            <a:srgbClr val="1B1C1D"/>
                          </a:solidFill>
                          <a:effectLst/>
                          <a:latin typeface="Microsoft JhengHei UI" panose="020B0604030504040204" pitchFamily="34" charset="-120"/>
                          <a:ea typeface="Microsoft JhengHei UI" panose="020B0604030504040204" pitchFamily="34" charset="-120"/>
                        </a:rPr>
                        <a:t>個國家</a:t>
                      </a:r>
                    </a:p>
                  </a:txBody>
                  <a:tcPr marL="139190" marR="139190" marT="92793" marB="92793" anchor="ctr"/>
                </a:tc>
                <a:extLst>
                  <a:ext uri="{0D108BD9-81ED-4DB2-BD59-A6C34878D82A}">
                    <a16:rowId xmlns:a16="http://schemas.microsoft.com/office/drawing/2014/main" val="560811435"/>
                  </a:ext>
                </a:extLst>
              </a:tr>
              <a:tr h="85369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zh-TW" altLang="en-US" sz="2200" b="0">
                          <a:solidFill>
                            <a:srgbClr val="1B1C1D"/>
                          </a:solidFill>
                          <a:effectLst/>
                          <a:latin typeface="Microsoft JhengHei UI" panose="020B0604030504040204" pitchFamily="34" charset="-120"/>
                          <a:ea typeface="Microsoft JhengHei UI" panose="020B0604030504040204" pitchFamily="34" charset="-120"/>
                        </a:rPr>
                        <a:t>訂房渠道</a:t>
                      </a:r>
                    </a:p>
                  </a:txBody>
                  <a:tcPr marL="139190" marR="139190" marT="92793" marB="9279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zh-TW" altLang="en-US" sz="2200" b="0">
                          <a:solidFill>
                            <a:srgbClr val="1B1C1D"/>
                          </a:solidFill>
                          <a:effectLst/>
                          <a:latin typeface="Microsoft JhengHei UI" panose="020B0604030504040204" pitchFamily="34" charset="-120"/>
                          <a:ea typeface="Microsoft JhengHei UI" panose="020B0604030504040204" pitchFamily="34" charset="-120"/>
                        </a:rPr>
                        <a:t>企業訂房、直接訂房、全球分銷系統、旅行社 </a:t>
                      </a:r>
                      <a:r>
                        <a:rPr lang="en-US" altLang="zh-TW" sz="2200" b="0">
                          <a:solidFill>
                            <a:srgbClr val="1B1C1D"/>
                          </a:solidFill>
                          <a:effectLst/>
                          <a:latin typeface="Microsoft JhengHei UI" panose="020B0604030504040204" pitchFamily="34" charset="-120"/>
                          <a:ea typeface="Microsoft JhengHei UI" panose="020B0604030504040204" pitchFamily="34" charset="-120"/>
                        </a:rPr>
                        <a:t>/ </a:t>
                      </a:r>
                      <a:r>
                        <a:rPr lang="zh-TW" altLang="en-US" sz="2200" b="0">
                          <a:solidFill>
                            <a:srgbClr val="1B1C1D"/>
                          </a:solidFill>
                          <a:effectLst/>
                          <a:latin typeface="Microsoft JhengHei UI" panose="020B0604030504040204" pitchFamily="34" charset="-120"/>
                          <a:ea typeface="Microsoft JhengHei UI" panose="020B0604030504040204" pitchFamily="34" charset="-120"/>
                        </a:rPr>
                        <a:t>旅遊代理</a:t>
                      </a:r>
                    </a:p>
                  </a:txBody>
                  <a:tcPr marL="139190" marR="139190" marT="92793" marB="92793" anchor="ctr"/>
                </a:tc>
                <a:extLst>
                  <a:ext uri="{0D108BD9-81ED-4DB2-BD59-A6C34878D82A}">
                    <a16:rowId xmlns:a16="http://schemas.microsoft.com/office/drawing/2014/main" val="988396152"/>
                  </a:ext>
                </a:extLst>
              </a:tr>
              <a:tr h="51964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zh-TW" altLang="en-US" sz="2200" b="0">
                          <a:solidFill>
                            <a:srgbClr val="1B1C1D"/>
                          </a:solidFill>
                          <a:effectLst/>
                          <a:latin typeface="Microsoft JhengHei UI" panose="020B0604030504040204" pitchFamily="34" charset="-120"/>
                          <a:ea typeface="Microsoft JhengHei UI" panose="020B0604030504040204" pitchFamily="34" charset="-120"/>
                        </a:rPr>
                        <a:t>客戶類型</a:t>
                      </a:r>
                    </a:p>
                  </a:txBody>
                  <a:tcPr marL="139190" marR="139190" marT="92793" marB="9279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zh-TW" altLang="en-US" sz="2200" b="0">
                          <a:solidFill>
                            <a:srgbClr val="1B1C1D"/>
                          </a:solidFill>
                          <a:effectLst/>
                          <a:latin typeface="Microsoft JhengHei UI" panose="020B0604030504040204" pitchFamily="34" charset="-120"/>
                          <a:ea typeface="Microsoft JhengHei UI" panose="020B0604030504040204" pitchFamily="34" charset="-120"/>
                        </a:rPr>
                        <a:t>合約客戶、團體客、散客、散客團體</a:t>
                      </a:r>
                    </a:p>
                  </a:txBody>
                  <a:tcPr marL="139190" marR="139190" marT="92793" marB="92793" anchor="ctr"/>
                </a:tc>
                <a:extLst>
                  <a:ext uri="{0D108BD9-81ED-4DB2-BD59-A6C34878D82A}">
                    <a16:rowId xmlns:a16="http://schemas.microsoft.com/office/drawing/2014/main" val="3673219260"/>
                  </a:ext>
                </a:extLst>
              </a:tr>
              <a:tr h="51964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zh-TW" altLang="en-US" sz="2200" b="0">
                          <a:solidFill>
                            <a:srgbClr val="1B1C1D"/>
                          </a:solidFill>
                          <a:effectLst/>
                          <a:latin typeface="Microsoft JhengHei UI" panose="020B0604030504040204" pitchFamily="34" charset="-120"/>
                          <a:ea typeface="Microsoft JhengHei UI" panose="020B0604030504040204" pitchFamily="34" charset="-120"/>
                        </a:rPr>
                        <a:t>訂金策略</a:t>
                      </a:r>
                    </a:p>
                  </a:txBody>
                  <a:tcPr marL="139190" marR="139190" marT="92793" marB="9279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zh-TW" altLang="en-US" sz="2200" b="0">
                          <a:solidFill>
                            <a:srgbClr val="1B1C1D"/>
                          </a:solidFill>
                          <a:effectLst/>
                          <a:latin typeface="Microsoft JhengHei UI" panose="020B0604030504040204" pitchFamily="34" charset="-120"/>
                          <a:ea typeface="Microsoft JhengHei UI" panose="020B0604030504040204" pitchFamily="34" charset="-120"/>
                        </a:rPr>
                        <a:t>無訂金、不可退訂金、可退訂金</a:t>
                      </a:r>
                    </a:p>
                  </a:txBody>
                  <a:tcPr marL="139190" marR="139190" marT="92793" marB="92793" anchor="ctr"/>
                </a:tc>
                <a:extLst>
                  <a:ext uri="{0D108BD9-81ED-4DB2-BD59-A6C34878D82A}">
                    <a16:rowId xmlns:a16="http://schemas.microsoft.com/office/drawing/2014/main" val="2222049307"/>
                  </a:ext>
                </a:extLst>
              </a:tr>
              <a:tr h="51964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zh-TW" altLang="en-US" sz="2200" b="0">
                          <a:solidFill>
                            <a:srgbClr val="1B1C1D"/>
                          </a:solidFill>
                          <a:effectLst/>
                          <a:latin typeface="Microsoft JhengHei UI" panose="020B0604030504040204" pitchFamily="34" charset="-120"/>
                          <a:ea typeface="Microsoft JhengHei UI" panose="020B0604030504040204" pitchFamily="34" charset="-120"/>
                        </a:rPr>
                        <a:t>回頭客</a:t>
                      </a:r>
                    </a:p>
                  </a:txBody>
                  <a:tcPr marL="139190" marR="139190" marT="92793" marB="9279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zh-TW" altLang="en-US" sz="2200" b="0">
                          <a:solidFill>
                            <a:srgbClr val="1B1C1D"/>
                          </a:solidFill>
                          <a:effectLst/>
                          <a:latin typeface="Microsoft JhengHei UI" panose="020B0604030504040204" pitchFamily="34" charset="-120"/>
                          <a:ea typeface="Microsoft JhengHei UI" panose="020B0604030504040204" pitchFamily="34" charset="-120"/>
                        </a:rPr>
                        <a:t>新客、回頭客</a:t>
                      </a:r>
                    </a:p>
                  </a:txBody>
                  <a:tcPr marL="139190" marR="139190" marT="92793" marB="92793" anchor="ctr"/>
                </a:tc>
                <a:extLst>
                  <a:ext uri="{0D108BD9-81ED-4DB2-BD59-A6C34878D82A}">
                    <a16:rowId xmlns:a16="http://schemas.microsoft.com/office/drawing/2014/main" val="680341425"/>
                  </a:ext>
                </a:extLst>
              </a:tr>
              <a:tr h="85369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200" b="0" dirty="0">
                          <a:solidFill>
                            <a:srgbClr val="1B1C1D"/>
                          </a:solidFill>
                          <a:effectLst/>
                          <a:latin typeface="Microsoft JhengHei UI" panose="020B0604030504040204" pitchFamily="34" charset="-120"/>
                          <a:ea typeface="Microsoft JhengHei UI" panose="020B0604030504040204" pitchFamily="34" charset="-120"/>
                        </a:rPr>
                        <a:t>K-means Clustering</a:t>
                      </a:r>
                    </a:p>
                  </a:txBody>
                  <a:tcPr marL="139190" marR="139190" marT="92793" marB="9279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zh-TW" altLang="en-US" sz="2200" b="0" dirty="0">
                          <a:solidFill>
                            <a:srgbClr val="1B1C1D"/>
                          </a:solidFill>
                          <a:effectLst/>
                          <a:latin typeface="Microsoft JhengHei UI" panose="020B0604030504040204" pitchFamily="34" charset="-120"/>
                          <a:ea typeface="Microsoft JhengHei UI" panose="020B0604030504040204" pitchFamily="34" charset="-120"/>
                        </a:rPr>
                        <a:t>商務短住、家庭旅遊、高價常住、週末短住</a:t>
                      </a:r>
                    </a:p>
                  </a:txBody>
                  <a:tcPr marL="139190" marR="139190" marT="92793" marB="92793" anchor="ctr"/>
                </a:tc>
                <a:extLst>
                  <a:ext uri="{0D108BD9-81ED-4DB2-BD59-A6C34878D82A}">
                    <a16:rowId xmlns:a16="http://schemas.microsoft.com/office/drawing/2014/main" val="38944742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73744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79C34-C963-EFF4-C2E5-781F8453A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K-means Clustering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Tableau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分析</a:t>
            </a:r>
            <a:endParaRPr 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8074851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2BB4F43-3D7A-6E8B-4BA9-2C87D4A2C4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228721" cy="6858000"/>
          </a:xfrm>
        </p:spPr>
      </p:pic>
    </p:spTree>
    <p:extLst>
      <p:ext uri="{BB962C8B-B14F-4D97-AF65-F5344CB8AC3E}">
        <p14:creationId xmlns:p14="http://schemas.microsoft.com/office/powerpoint/2010/main" val="6560929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E8028-15D1-533D-A983-9B10603038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2319" y="1552166"/>
            <a:ext cx="4433449" cy="2472397"/>
          </a:xfrm>
        </p:spPr>
        <p:txBody>
          <a:bodyPr>
            <a:normAutofit/>
          </a:bodyPr>
          <a:lstStyle/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Cluster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0</a:t>
            </a:r>
            <a:endParaRPr lang="en-US" sz="1400" dirty="0">
              <a:effectLst/>
              <a:latin typeface="Microsoft JhengHei UI" panose="020B0604030504040204" pitchFamily="34" charset="-120"/>
              <a:ea typeface="Microsoft JhengHei UI" panose="020B0604030504040204" pitchFamily="34" charset="-120"/>
              <a:cs typeface="Times New Roman" panose="02020603050405020304" pitchFamily="18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平均房價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 (ADR)</a:t>
            </a: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：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 $92.6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平均入住夜數：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 3 </a:t>
            </a: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晚</a:t>
            </a:r>
            <a:endParaRPr lang="en-US" sz="1400" dirty="0">
              <a:effectLst/>
              <a:latin typeface="Microsoft JhengHei UI" panose="020B0604030504040204" pitchFamily="34" charset="-120"/>
              <a:ea typeface="Microsoft JhengHei UI" panose="020B0604030504040204" pitchFamily="34" charset="-120"/>
              <a:cs typeface="Times New Roman" panose="02020603050405020304" pitchFamily="18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主要旅客：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 1</a:t>
            </a: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–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2 </a:t>
            </a: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位成人，幾乎沒有小孩</a:t>
            </a:r>
            <a:endParaRPr lang="en-US" sz="1400" dirty="0">
              <a:effectLst/>
              <a:latin typeface="Microsoft JhengHei UI" panose="020B0604030504040204" pitchFamily="34" charset="-120"/>
              <a:ea typeface="Microsoft JhengHei UI" panose="020B0604030504040204" pitchFamily="34" charset="-120"/>
              <a:cs typeface="Times New Roman" panose="02020603050405020304" pitchFamily="18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家庭比例： 幾乎不是家庭</a:t>
            </a:r>
            <a:endParaRPr lang="en-US" altLang="zh-TW" sz="1400" dirty="0">
              <a:latin typeface="Microsoft JhengHei UI" panose="020B0604030504040204" pitchFamily="34" charset="-120"/>
              <a:ea typeface="Microsoft JhengHei UI" panose="020B0604030504040204" pitchFamily="34" charset="-120"/>
              <a:cs typeface="Times New Roman" panose="02020603050405020304" pitchFamily="18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週末入住： 幾乎都是週末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 (100%)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特殊需求： 少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 (0.42)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平均營收：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 $270 </a:t>
            </a:r>
          </a:p>
          <a:p>
            <a:pPr marL="0">
              <a:spcBef>
                <a:spcPts val="0"/>
              </a:spcBef>
            </a:pPr>
            <a:r>
              <a:rPr lang="zh-TW" altLang="en-US" sz="1400" dirty="0"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通常是情侶或單人，訂房很早，週末度假，需求簡單。</a:t>
            </a:r>
            <a:endParaRPr lang="en-US" sz="1400" dirty="0">
              <a:effectLst/>
              <a:latin typeface="Microsoft JhengHei UI" panose="020B0604030504040204" pitchFamily="34" charset="-120"/>
              <a:ea typeface="Microsoft JhengHei UI" panose="020B0604030504040204" pitchFamily="34" charset="-120"/>
              <a:cs typeface="Times New Roman" panose="02020603050405020304" pitchFamily="18" charset="0"/>
            </a:endParaRP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endParaRPr lang="en-US" altLang="zh-TW" sz="1400" dirty="0">
              <a:effectLst/>
              <a:latin typeface="Microsoft JhengHei UI" panose="020B0604030504040204" pitchFamily="34" charset="-120"/>
              <a:ea typeface="Microsoft JhengHei UI" panose="020B0604030504040204" pitchFamily="34" charset="-120"/>
              <a:cs typeface="Times New Roman" panose="02020603050405020304" pitchFamily="18" charset="0"/>
            </a:endParaRP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400" b="1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解讀：</a:t>
            </a:r>
            <a:r>
              <a:rPr lang="zh-TW" sz="1400" b="1" dirty="0">
                <a:solidFill>
                  <a:srgbClr val="FF0000"/>
                </a:solidFill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短期、週末休閒旅客</a:t>
            </a:r>
            <a:endParaRPr lang="en-US" sz="1400" b="1" dirty="0">
              <a:effectLst/>
              <a:latin typeface="Microsoft JhengHei UI" panose="020B0604030504040204" pitchFamily="34" charset="-120"/>
              <a:ea typeface="Microsoft JhengHei UI" panose="020B0604030504040204" pitchFamily="34" charset="-120"/>
              <a:cs typeface="Times New Roman" panose="02020603050405020304" pitchFamily="18" charset="0"/>
            </a:endParaRPr>
          </a:p>
          <a:p>
            <a:endParaRPr lang="en-US" sz="1400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1F03C86-0729-92C3-025A-BCF211359DC4}"/>
              </a:ext>
            </a:extLst>
          </p:cNvPr>
          <p:cNvSpPr txBox="1">
            <a:spLocks/>
          </p:cNvSpPr>
          <p:nvPr/>
        </p:nvSpPr>
        <p:spPr>
          <a:xfrm>
            <a:off x="7031966" y="1552166"/>
            <a:ext cx="4789060" cy="24723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Cluster 1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ADR</a:t>
            </a: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：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 $135.3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平均入住夜數：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 5 </a:t>
            </a: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晚</a:t>
            </a:r>
            <a:endParaRPr lang="en-US" sz="1400" dirty="0">
              <a:effectLst/>
              <a:latin typeface="Microsoft JhengHei UI" panose="020B0604030504040204" pitchFamily="34" charset="-120"/>
              <a:ea typeface="Microsoft JhengHei UI" panose="020B0604030504040204" pitchFamily="34" charset="-120"/>
              <a:cs typeface="Times New Roman" panose="02020603050405020304" pitchFamily="18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主要旅客：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 2 </a:t>
            </a: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位成人，無小孩</a:t>
            </a:r>
            <a:endParaRPr lang="en-US" sz="1400" dirty="0">
              <a:effectLst/>
              <a:latin typeface="Microsoft JhengHei UI" panose="020B0604030504040204" pitchFamily="34" charset="-120"/>
              <a:ea typeface="Microsoft JhengHei UI" panose="020B0604030504040204" pitchFamily="34" charset="-120"/>
              <a:cs typeface="Times New Roman" panose="02020603050405020304" pitchFamily="18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家庭比例： 幾乎不是家庭</a:t>
            </a:r>
            <a:endParaRPr lang="en-US" sz="1400" dirty="0">
              <a:effectLst/>
              <a:latin typeface="Microsoft JhengHei UI" panose="020B0604030504040204" pitchFamily="34" charset="-120"/>
              <a:ea typeface="Microsoft JhengHei UI" panose="020B0604030504040204" pitchFamily="34" charset="-120"/>
              <a:cs typeface="Times New Roman" panose="02020603050405020304" pitchFamily="18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週末入住： 偏高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 (86%)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特殊需求： 中高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 (1.14)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平均營收：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 $643</a:t>
            </a:r>
          </a:p>
          <a:p>
            <a:pPr marL="0">
              <a:spcBef>
                <a:spcPts val="0"/>
              </a:spcBef>
            </a:pPr>
            <a:r>
              <a:rPr lang="zh-TW" altLang="en-US" sz="1400" dirty="0"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多是雙人長住，對設施或服務有要求，屬於「高消費長住型」。</a:t>
            </a:r>
            <a:endParaRPr lang="en-US" sz="1400" dirty="0">
              <a:latin typeface="Microsoft JhengHei UI" panose="020B0604030504040204" pitchFamily="34" charset="-120"/>
              <a:ea typeface="Microsoft JhengHei UI" panose="020B0604030504040204" pitchFamily="34" charset="-120"/>
              <a:cs typeface="Times New Roman" panose="02020603050405020304" pitchFamily="18" charset="0"/>
            </a:endParaRP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endParaRPr lang="en-US" altLang="zh-TW" sz="1400" dirty="0">
              <a:latin typeface="Microsoft JhengHei UI" panose="020B0604030504040204" pitchFamily="34" charset="-120"/>
              <a:ea typeface="Microsoft JhengHei UI" panose="020B0604030504040204" pitchFamily="34" charset="-120"/>
              <a:cs typeface="Times New Roman" panose="02020603050405020304" pitchFamily="18" charset="0"/>
            </a:endParaRP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400" b="1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解讀</a:t>
            </a: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：</a:t>
            </a:r>
            <a:r>
              <a:rPr lang="zh-TW" sz="1400" b="1" dirty="0">
                <a:solidFill>
                  <a:srgbClr val="FF0000"/>
                </a:solidFill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長住、高價旅客</a:t>
            </a:r>
            <a:endParaRPr lang="en-US" sz="1400" b="1" dirty="0">
              <a:solidFill>
                <a:srgbClr val="FF0000"/>
              </a:solidFill>
              <a:effectLst/>
              <a:latin typeface="Microsoft JhengHei UI" panose="020B0604030504040204" pitchFamily="34" charset="-120"/>
              <a:ea typeface="Microsoft JhengHei UI" panose="020B0604030504040204" pitchFamily="34" charset="-120"/>
              <a:cs typeface="Times New Roman" panose="02020603050405020304" pitchFamily="18" charset="0"/>
            </a:endParaRPr>
          </a:p>
          <a:p>
            <a:endParaRPr lang="en-US" sz="1400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70AD2C2-BE7A-4730-F14A-6AD881FB2D56}"/>
              </a:ext>
            </a:extLst>
          </p:cNvPr>
          <p:cNvSpPr txBox="1">
            <a:spLocks/>
          </p:cNvSpPr>
          <p:nvPr/>
        </p:nvSpPr>
        <p:spPr>
          <a:xfrm>
            <a:off x="812319" y="4294982"/>
            <a:ext cx="4433449" cy="33559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Cluster 2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ADR</a:t>
            </a: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：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 $98.4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平均入住夜數：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 2 </a:t>
            </a: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晚</a:t>
            </a:r>
            <a:endParaRPr lang="en-US" sz="1400" dirty="0">
              <a:effectLst/>
              <a:latin typeface="Microsoft JhengHei UI" panose="020B0604030504040204" pitchFamily="34" charset="-120"/>
              <a:ea typeface="Microsoft JhengHei UI" panose="020B0604030504040204" pitchFamily="34" charset="-120"/>
              <a:cs typeface="Times New Roman" panose="02020603050405020304" pitchFamily="18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主要旅客：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 1</a:t>
            </a: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–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2 </a:t>
            </a: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位成人，無小孩</a:t>
            </a:r>
            <a:endParaRPr lang="en-US" sz="1400" dirty="0">
              <a:effectLst/>
              <a:latin typeface="Microsoft JhengHei UI" panose="020B0604030504040204" pitchFamily="34" charset="-120"/>
              <a:ea typeface="Microsoft JhengHei UI" panose="020B0604030504040204" pitchFamily="34" charset="-120"/>
              <a:cs typeface="Times New Roman" panose="02020603050405020304" pitchFamily="18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家庭比例： 幾乎不是家庭</a:t>
            </a:r>
            <a:endParaRPr lang="en-US" sz="1400" dirty="0">
              <a:effectLst/>
              <a:latin typeface="Microsoft JhengHei UI" panose="020B0604030504040204" pitchFamily="34" charset="-120"/>
              <a:ea typeface="Microsoft JhengHei UI" panose="020B0604030504040204" pitchFamily="34" charset="-120"/>
              <a:cs typeface="Times New Roman" panose="02020603050405020304" pitchFamily="18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週末入住： 幾乎不是週末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 (0%)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特殊需求： 少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 (0.45)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平均營收：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 $203</a:t>
            </a:r>
          </a:p>
          <a:p>
            <a:pPr marL="0">
              <a:spcBef>
                <a:spcPts val="0"/>
              </a:spcBef>
            </a:pPr>
            <a:r>
              <a:rPr lang="zh-TW" altLang="en-US" sz="1400" dirty="0"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通常是商務出差或短期停留，非週末，單人或雙人。</a:t>
            </a:r>
            <a:endParaRPr lang="en-US" sz="1400" dirty="0">
              <a:effectLst/>
              <a:latin typeface="Microsoft JhengHei UI" panose="020B0604030504040204" pitchFamily="34" charset="-120"/>
              <a:ea typeface="Microsoft JhengHei UI" panose="020B0604030504040204" pitchFamily="34" charset="-120"/>
              <a:cs typeface="Times New Roman" panose="02020603050405020304" pitchFamily="18" charset="0"/>
            </a:endParaRP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endParaRPr lang="en-US" altLang="zh-TW" sz="1400" dirty="0">
              <a:effectLst/>
              <a:latin typeface="Microsoft JhengHei UI" panose="020B0604030504040204" pitchFamily="34" charset="-120"/>
              <a:ea typeface="Microsoft JhengHei UI" panose="020B0604030504040204" pitchFamily="34" charset="-120"/>
              <a:cs typeface="Times New Roman" panose="02020603050405020304" pitchFamily="18" charset="0"/>
            </a:endParaRP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400" b="1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解讀：</a:t>
            </a:r>
            <a:r>
              <a:rPr lang="zh-TW" sz="1400" b="1" dirty="0">
                <a:solidFill>
                  <a:srgbClr val="FF0000"/>
                </a:solidFill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短期、平日商務型旅客</a:t>
            </a:r>
            <a:endParaRPr lang="en-US" sz="1400" b="1" dirty="0">
              <a:solidFill>
                <a:srgbClr val="FF0000"/>
              </a:solidFill>
              <a:effectLst/>
              <a:latin typeface="Microsoft JhengHei UI" panose="020B0604030504040204" pitchFamily="34" charset="-120"/>
              <a:ea typeface="Microsoft JhengHei UI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B47769F-F41B-1B4B-01A0-0B58D00FC8E5}"/>
              </a:ext>
            </a:extLst>
          </p:cNvPr>
          <p:cNvSpPr txBox="1">
            <a:spLocks/>
          </p:cNvSpPr>
          <p:nvPr/>
        </p:nvSpPr>
        <p:spPr>
          <a:xfrm>
            <a:off x="7031966" y="4294982"/>
            <a:ext cx="4347715" cy="25739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Cluster 3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ADR</a:t>
            </a: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：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 $152.0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平均入住夜數：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 3.3 </a:t>
            </a: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晚</a:t>
            </a:r>
            <a:endParaRPr lang="en-US" sz="1400" dirty="0">
              <a:effectLst/>
              <a:latin typeface="Microsoft JhengHei UI" panose="020B0604030504040204" pitchFamily="34" charset="-120"/>
              <a:ea typeface="Microsoft JhengHei UI" panose="020B0604030504040204" pitchFamily="34" charset="-120"/>
              <a:cs typeface="Times New Roman" panose="02020603050405020304" pitchFamily="18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主要旅客：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 2 </a:t>
            </a: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位成人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 + </a:t>
            </a: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平均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 1.3 </a:t>
            </a: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個小孩</a:t>
            </a:r>
            <a:endParaRPr lang="en-US" sz="1400" dirty="0">
              <a:effectLst/>
              <a:latin typeface="Microsoft JhengHei UI" panose="020B0604030504040204" pitchFamily="34" charset="-120"/>
              <a:ea typeface="Microsoft JhengHei UI" panose="020B0604030504040204" pitchFamily="34" charset="-120"/>
              <a:cs typeface="Times New Roman" panose="02020603050405020304" pitchFamily="18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家庭比例： 幾乎都是家庭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 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週末入住：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 60%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特殊需求： 中高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 (1.02)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平均營收：</a:t>
            </a:r>
            <a:r>
              <a:rPr 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 $491</a:t>
            </a:r>
          </a:p>
          <a:p>
            <a:pPr marL="0">
              <a:spcBef>
                <a:spcPts val="0"/>
              </a:spcBef>
            </a:pPr>
            <a:r>
              <a:rPr lang="zh-TW" altLang="en-US" sz="1400" dirty="0"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攜帶小孩入住，願意支付較高房價，有更多需求，適合週末或短期家庭度假。</a:t>
            </a:r>
            <a:endParaRPr lang="en-US" sz="1400" dirty="0">
              <a:effectLst/>
              <a:latin typeface="Microsoft JhengHei UI" panose="020B0604030504040204" pitchFamily="34" charset="-120"/>
              <a:ea typeface="Microsoft JhengHei UI" panose="020B0604030504040204" pitchFamily="34" charset="-120"/>
              <a:cs typeface="Times New Roman" panose="02020603050405020304" pitchFamily="18" charset="0"/>
            </a:endParaRP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endParaRPr lang="en-US" altLang="zh-TW" sz="1400" dirty="0">
              <a:effectLst/>
              <a:latin typeface="Microsoft JhengHei UI" panose="020B0604030504040204" pitchFamily="34" charset="-120"/>
              <a:ea typeface="Microsoft JhengHei UI" panose="020B0604030504040204" pitchFamily="34" charset="-120"/>
              <a:cs typeface="Times New Roman" panose="02020603050405020304" pitchFamily="18" charset="0"/>
            </a:endParaRP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400" b="1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解讀：</a:t>
            </a:r>
            <a:r>
              <a:rPr lang="zh-TW" sz="1400" b="1" dirty="0">
                <a:solidFill>
                  <a:srgbClr val="FF0000"/>
                </a:solidFill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  <a:cs typeface="Times New Roman" panose="02020603050405020304" pitchFamily="18" charset="0"/>
              </a:rPr>
              <a:t>家庭旅遊型旅客</a:t>
            </a:r>
            <a:endParaRPr lang="en-US" sz="1400" b="1" dirty="0">
              <a:solidFill>
                <a:srgbClr val="FF0000"/>
              </a:solidFill>
              <a:effectLst/>
              <a:latin typeface="Microsoft JhengHei UI" panose="020B0604030504040204" pitchFamily="34" charset="-120"/>
              <a:ea typeface="Microsoft JhengHei UI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15F7D0-E47F-67F3-CDD8-79389D6E7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319" y="226603"/>
            <a:ext cx="10515600" cy="1325563"/>
          </a:xfrm>
        </p:spPr>
        <p:txBody>
          <a:bodyPr/>
          <a:lstStyle/>
          <a:p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分析結果</a:t>
            </a:r>
            <a:endParaRPr 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247708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B115D-3ED9-10A0-2579-244992FD5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DDAB8-8064-AC71-A0F8-FAD0FA8D4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97816" cy="1325563"/>
          </a:xfrm>
        </p:spPr>
        <p:txBody>
          <a:bodyPr/>
          <a:lstStyle/>
          <a:p>
            <a:pPr algn="ctr"/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不同群體的臨時取消行為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Tableau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分析</a:t>
            </a:r>
            <a:endParaRPr 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400673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66E0F62-71E4-A033-D4F1-A499918C2612}"/>
              </a:ext>
            </a:extLst>
          </p:cNvPr>
          <p:cNvGrpSpPr/>
          <p:nvPr/>
        </p:nvGrpSpPr>
        <p:grpSpPr>
          <a:xfrm>
            <a:off x="20" y="1282"/>
            <a:ext cx="12191980" cy="6856718"/>
            <a:chOff x="20" y="1282"/>
            <a:chExt cx="12191980" cy="6856718"/>
          </a:xfrm>
        </p:grpSpPr>
        <p:pic>
          <p:nvPicPr>
            <p:cNvPr id="3" name="Picture 2" descr="A screenshot of a graph&#10;&#10;Description automatically generated">
              <a:extLst>
                <a:ext uri="{FF2B5EF4-FFF2-40B4-BE49-F238E27FC236}">
                  <a16:creationId xmlns:a16="http://schemas.microsoft.com/office/drawing/2014/main" id="{D741D4F7-CE21-B0FB-52A7-976464D953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9"/>
            <a:stretch>
              <a:fillRect/>
            </a:stretch>
          </p:blipFill>
          <p:spPr>
            <a:xfrm>
              <a:off x="20" y="1282"/>
              <a:ext cx="12191980" cy="6856718"/>
            </a:xfrm>
            <a:prstGeom prst="rect">
              <a:avLst/>
            </a:prstGeom>
          </p:spPr>
        </p:pic>
        <p:pic>
          <p:nvPicPr>
            <p:cNvPr id="4" name="Picture 3" descr="A graph of orange and pink vertical lines&#10;&#10;Description automatically generated">
              <a:extLst>
                <a:ext uri="{FF2B5EF4-FFF2-40B4-BE49-F238E27FC236}">
                  <a16:creationId xmlns:a16="http://schemas.microsoft.com/office/drawing/2014/main" id="{60C332FC-7070-285E-F109-DFDF494AC1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7882" y="540446"/>
              <a:ext cx="5558118" cy="195771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8B3D0-99B7-6F46-4AD9-9BB5D2AE6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分析結果</a:t>
            </a:r>
            <a:endParaRPr 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51727-B30E-9C33-D1B2-1738514437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國家：部分國家臨時取消率高，可能與各地市場習慣、旅遊文化有關。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>
              <a:lnSpc>
                <a:spcPct val="150000"/>
              </a:lnSpc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訂房渠道 ：旅行社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代理（</a:t>
            </a:r>
            <a:r>
              <a:rPr 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TA/TO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）臨時取消率較低</a:t>
            </a:r>
            <a:endParaRPr 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>
              <a:lnSpc>
                <a:spcPct val="150000"/>
              </a:lnSpc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訂金：訂金有效降低臨時取消數量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>
              <a:lnSpc>
                <a:spcPct val="150000"/>
              </a:lnSpc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其他族群對臨時取消的差異不大。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7547551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BDB7C-438E-292E-0CB3-05C82FEC4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結論</a:t>
            </a:r>
            <a:endParaRPr 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D96CC-7BE1-CEE9-07E2-E9B87E4DA6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專注於取消訂房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而非臨時取消訂房</a:t>
            </a:r>
            <a:r>
              <a:rPr lang="en-US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的分析</a:t>
            </a:r>
            <a:endParaRPr 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lvl="1">
              <a:lnSpc>
                <a:spcPct val="150000"/>
              </a:lnSpc>
            </a:pPr>
            <a:r>
              <a:rPr lang="en-US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臨時取消佔比極小</a:t>
            </a:r>
            <a:endParaRPr 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lvl="1">
              <a:lnSpc>
                <a:spcPct val="150000"/>
              </a:lnSpc>
            </a:pPr>
            <a:r>
              <a:rPr lang="en-US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目前臨時取消策略有效</a:t>
            </a:r>
            <a:endParaRPr 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lvl="1">
              <a:lnSpc>
                <a:spcPct val="150000"/>
              </a:lnSpc>
            </a:pPr>
            <a:r>
              <a:rPr lang="en-US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臨時取消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於各</a:t>
            </a:r>
            <a:r>
              <a:rPr lang="en-US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分群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間</a:t>
            </a:r>
            <a:r>
              <a:rPr lang="en-US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差異不大</a:t>
            </a:r>
            <a:endParaRPr 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043539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7BCF1-7627-9A4C-CE17-E45EB9442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不同群體的取消數量與佔比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Tableau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分析</a:t>
            </a:r>
            <a:endParaRPr 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635153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graph&#10;&#10;Description automatically generated">
            <a:extLst>
              <a:ext uri="{FF2B5EF4-FFF2-40B4-BE49-F238E27FC236}">
                <a16:creationId xmlns:a16="http://schemas.microsoft.com/office/drawing/2014/main" id="{1925D3D7-4FD2-493D-50F1-EB2AE924ED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92707"/>
            <a:ext cx="6054165" cy="2121788"/>
          </a:xfrm>
          <a:prstGeom prst="rect">
            <a:avLst/>
          </a:prstGeom>
        </p:spPr>
      </p:pic>
      <p:pic>
        <p:nvPicPr>
          <p:cNvPr id="13" name="Picture 12" descr="A screenshot of a graph&#10;&#10;Description automatically generated">
            <a:extLst>
              <a:ext uri="{FF2B5EF4-FFF2-40B4-BE49-F238E27FC236}">
                <a16:creationId xmlns:a16="http://schemas.microsoft.com/office/drawing/2014/main" id="{172E3896-DD0E-B8EB-1605-385B0D6492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147"/>
            <a:ext cx="12192000" cy="6852853"/>
          </a:xfrm>
          <a:prstGeom prst="rect">
            <a:avLst/>
          </a:prstGeom>
        </p:spPr>
      </p:pic>
      <p:pic>
        <p:nvPicPr>
          <p:cNvPr id="22" name="Picture 21" descr="A graph of a person with blue and white lines&#10;&#10;Description automatically generated with medium confidence">
            <a:extLst>
              <a:ext uri="{FF2B5EF4-FFF2-40B4-BE49-F238E27FC236}">
                <a16:creationId xmlns:a16="http://schemas.microsoft.com/office/drawing/2014/main" id="{3EE1F9FD-A481-ECFE-A5CC-94600EC459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92707"/>
            <a:ext cx="6096000" cy="1950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38C6F-C83A-F02D-890C-3059920CE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 descr="A screenshot of a graph&#10;&#10;Description automatically generated">
            <a:extLst>
              <a:ext uri="{FF2B5EF4-FFF2-40B4-BE49-F238E27FC236}">
                <a16:creationId xmlns:a16="http://schemas.microsoft.com/office/drawing/2014/main" id="{72AF9E08-9715-75FC-76E0-82C9D6995A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977"/>
            <a:ext cx="12192000" cy="6862751"/>
          </a:xfrm>
          <a:prstGeom prst="rect">
            <a:avLst/>
          </a:prstGeom>
        </p:spPr>
      </p:pic>
      <p:pic>
        <p:nvPicPr>
          <p:cNvPr id="4" name="Content Placeholder 3" descr="A graph of blue lines&#10;&#10;Description automatically generated">
            <a:extLst>
              <a:ext uri="{FF2B5EF4-FFF2-40B4-BE49-F238E27FC236}">
                <a16:creationId xmlns:a16="http://schemas.microsoft.com/office/drawing/2014/main" id="{E51E8500-388C-75CA-409C-445F981AB0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65125"/>
            <a:ext cx="6149788" cy="209120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98DFDDC-6EE0-A7CD-010C-2810FD2FDAD6}"/>
              </a:ext>
            </a:extLst>
          </p:cNvPr>
          <p:cNvSpPr/>
          <p:nvPr/>
        </p:nvSpPr>
        <p:spPr>
          <a:xfrm>
            <a:off x="5058187" y="2372659"/>
            <a:ext cx="45719" cy="836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324CD6-1B2D-FF87-FFEB-191EC8D6328A}"/>
              </a:ext>
            </a:extLst>
          </p:cNvPr>
          <p:cNvSpPr/>
          <p:nvPr/>
        </p:nvSpPr>
        <p:spPr>
          <a:xfrm>
            <a:off x="3137647" y="6724755"/>
            <a:ext cx="1410447" cy="13324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6193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76772-DD69-D036-7525-3718C82D4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不同群體的取消數量與佔比分析</a:t>
            </a:r>
            <a:endParaRPr 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8321BA-A8A6-FC3D-EEE7-A2E7222113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</a:pPr>
            <a:r>
              <a:rPr lang="en-US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取消量與取消率較高的分群類別</a:t>
            </a:r>
            <a:r>
              <a:rPr 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</a:p>
          <a:p>
            <a:pPr lvl="1">
              <a:lnSpc>
                <a:spcPct val="150000"/>
              </a:lnSpc>
            </a:pPr>
            <a:r>
              <a:rPr lang="en-US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國家</a:t>
            </a:r>
            <a:r>
              <a:rPr 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葡萄牙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(PRT)</a:t>
            </a:r>
          </a:p>
          <a:p>
            <a:pPr lvl="1">
              <a:lnSpc>
                <a:spcPct val="150000"/>
              </a:lnSpc>
            </a:pPr>
            <a:r>
              <a:rPr lang="en-US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通路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: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旅行社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旅遊代理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  <a:sym typeface="Wingdings" pitchFamily="2" charset="2"/>
              </a:rPr>
              <a:t>(</a:t>
            </a:r>
            <a:r>
              <a:rPr 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TA/TO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)</a:t>
            </a:r>
            <a:endParaRPr 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lvl="1">
              <a:lnSpc>
                <a:spcPct val="150000"/>
              </a:lnSpc>
            </a:pPr>
            <a:r>
              <a:rPr lang="en-US" sz="2400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客戶類型</a:t>
            </a:r>
            <a:r>
              <a:rPr lang="en-US" sz="24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: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散客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  <a:sym typeface="Wingdings" pitchFamily="2" charset="2"/>
              </a:rPr>
              <a:t>(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Transient)</a:t>
            </a:r>
          </a:p>
          <a:p>
            <a:pPr lvl="1">
              <a:lnSpc>
                <a:spcPct val="150000"/>
              </a:lnSpc>
            </a:pPr>
            <a:r>
              <a:rPr lang="en-US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回頭客：新客戶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(0)</a:t>
            </a:r>
            <a:endParaRPr 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lvl="1">
              <a:lnSpc>
                <a:spcPct val="150000"/>
              </a:lnSpc>
            </a:pPr>
            <a:r>
              <a:rPr lang="en-US" altLang="zh-TW" sz="24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Python</a:t>
            </a:r>
            <a:r>
              <a:rPr lang="zh-TW" altLang="en-US" sz="2400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分群</a:t>
            </a:r>
            <a:r>
              <a:rPr 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商務短住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(Business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short-stay)</a:t>
            </a:r>
            <a:r>
              <a:rPr 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週末短住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(Weekend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short-stay)</a:t>
            </a:r>
            <a:endParaRPr 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>
              <a:lnSpc>
                <a:spcPct val="150000"/>
              </a:lnSpc>
            </a:pPr>
            <a:r>
              <a:rPr lang="en-US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訂金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(Deposit)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制度效果不彰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lvl="1">
              <a:lnSpc>
                <a:spcPct val="150000"/>
              </a:lnSpc>
            </a:pPr>
            <a:r>
              <a:rPr lang="en-US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是否收取分類機制</a:t>
            </a:r>
            <a:endParaRPr 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lvl="1">
              <a:lnSpc>
                <a:spcPct val="150000"/>
              </a:lnSpc>
            </a:pPr>
            <a:r>
              <a:rPr lang="en-US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訂金金額</a:t>
            </a:r>
            <a:endParaRPr 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lvl="1"/>
            <a:endParaRPr 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lvl="1"/>
            <a:endParaRPr 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047503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8D1EE-1AED-B506-71F8-1AA6AC1EF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Tableau Dashboard Link</a:t>
            </a:r>
            <a:endParaRPr 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DCE2D8-B593-353B-0045-9AFF23A8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  <a:hlinkClick r:id="rId2"/>
              </a:rPr>
              <a:t>Cancellation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  <a:hlinkClick r:id="rId2"/>
              </a:rPr>
              <a:t>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  <a:hlinkClick r:id="rId2"/>
              </a:rPr>
              <a:t>Analysis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>
              <a:lnSpc>
                <a:spcPct val="150000"/>
              </a:lnSpc>
            </a:pP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  <a:hlinkClick r:id="rId3"/>
              </a:rPr>
              <a:t>Segmentation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  <a:hlinkClick r:id="rId3"/>
              </a:rPr>
              <a:t>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  <a:hlinkClick r:id="rId3"/>
              </a:rPr>
              <a:t>Analysis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9671522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898</Words>
  <Application>Microsoft Office PowerPoint</Application>
  <PresentationFormat>Widescreen</PresentationFormat>
  <Paragraphs>102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Microsoft JhengHei UI</vt:lpstr>
      <vt:lpstr>Arial</vt:lpstr>
      <vt:lpstr>Calibri</vt:lpstr>
      <vt:lpstr>Calibri Light</vt:lpstr>
      <vt:lpstr>Office Theme</vt:lpstr>
      <vt:lpstr>Global Hotels and Resorts 訂房取消分析</vt:lpstr>
      <vt:lpstr>訂單取消類型比例圖</vt:lpstr>
      <vt:lpstr>PowerPoint Presentation</vt:lpstr>
      <vt:lpstr>訂單取消類型比例圖</vt:lpstr>
      <vt:lpstr>臨時取消與損失趨勢分析</vt:lpstr>
      <vt:lpstr>PowerPoint Presentation</vt:lpstr>
      <vt:lpstr>臨時取消與損失趨勢分析</vt:lpstr>
      <vt:lpstr>不同群體的臨時取消行為分析</vt:lpstr>
      <vt:lpstr>分群</vt:lpstr>
      <vt:lpstr>K-means Clustering Tableau 分析</vt:lpstr>
      <vt:lpstr>PowerPoint Presentation</vt:lpstr>
      <vt:lpstr>分析結果</vt:lpstr>
      <vt:lpstr>不同群體的臨時取消行為Tableau分析</vt:lpstr>
      <vt:lpstr>PowerPoint Presentation</vt:lpstr>
      <vt:lpstr>分析結果</vt:lpstr>
      <vt:lpstr>結論</vt:lpstr>
      <vt:lpstr>不同群體的取消數量與佔比Tableau分析</vt:lpstr>
      <vt:lpstr>PowerPoint Presentation</vt:lpstr>
      <vt:lpstr>PowerPoint Presentation</vt:lpstr>
      <vt:lpstr>不同群體的取消數量與佔比分析</vt:lpstr>
      <vt:lpstr>Tableau Dashboard Link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Hotels and Resorts Revenue Analysis - Cancellation Analysis</dc:title>
  <dc:creator/>
  <cp:lastModifiedBy>Sheng-Lien Lee</cp:lastModifiedBy>
  <cp:revision>20</cp:revision>
  <dcterms:created xsi:type="dcterms:W3CDTF">2025-09-22T14:14:48Z</dcterms:created>
  <dcterms:modified xsi:type="dcterms:W3CDTF">2025-10-23T03:37:49Z</dcterms:modified>
</cp:coreProperties>
</file>